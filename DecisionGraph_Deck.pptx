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2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2011680"/>
            <a:ext cx="6858000" cy="6858000"/>
          </a:xfrm>
          <a:prstGeom prst="ellipse">
            <a:avLst/>
          </a:prstGeom>
          <a:solidFill>
            <a:srgbClr val="8E7FFF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3291840"/>
            <a:ext cx="5486400" cy="5486400"/>
          </a:xfrm>
          <a:prstGeom prst="ellipse">
            <a:avLst/>
          </a:prstGeom>
          <a:solidFill>
            <a:srgbClr val="4DDADA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33272" y="4690872"/>
            <a:ext cx="777240" cy="-457200"/>
          </a:xfrm>
          <a:prstGeom prst="line">
            <a:avLst/>
          </a:prstGeom>
          <a:noFill/>
          <a:ln w="19050">
            <a:solidFill>
              <a:srgbClr val="4745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3272" y="4690872"/>
            <a:ext cx="457200" cy="594360"/>
          </a:xfrm>
          <a:prstGeom prst="line">
            <a:avLst/>
          </a:prstGeom>
          <a:noFill/>
          <a:ln w="19050">
            <a:solidFill>
              <a:srgbClr val="47455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3272" y="4690872"/>
            <a:ext cx="1508760" cy="137160"/>
          </a:xfrm>
          <a:prstGeom prst="line">
            <a:avLst/>
          </a:prstGeom>
          <a:noFill/>
          <a:ln w="19050">
            <a:solidFill>
              <a:srgbClr val="47455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4572000"/>
            <a:ext cx="237744" cy="237744"/>
          </a:xfrm>
          <a:prstGeom prst="ellipse">
            <a:avLst/>
          </a:prstGeom>
          <a:solidFill>
            <a:srgbClr val="C7BFFF"/>
          </a:solidFill>
          <a:ln/>
        </p:spPr>
      </p:sp>
      <p:sp>
        <p:nvSpPr>
          <p:cNvPr id="8" name="Shape 6"/>
          <p:cNvSpPr/>
          <p:nvPr/>
        </p:nvSpPr>
        <p:spPr>
          <a:xfrm>
            <a:off x="1737360" y="4114800"/>
            <a:ext cx="164592" cy="164592"/>
          </a:xfrm>
          <a:prstGeom prst="ellipse">
            <a:avLst/>
          </a:prstGeom>
          <a:solidFill>
            <a:srgbClr val="4DDADA"/>
          </a:solidFill>
          <a:ln/>
        </p:spPr>
      </p:sp>
      <p:sp>
        <p:nvSpPr>
          <p:cNvPr id="9" name="Shape 7"/>
          <p:cNvSpPr/>
          <p:nvPr/>
        </p:nvSpPr>
        <p:spPr>
          <a:xfrm>
            <a:off x="1417320" y="5212080"/>
            <a:ext cx="164592" cy="164592"/>
          </a:xfrm>
          <a:prstGeom prst="ellipse">
            <a:avLst/>
          </a:prstGeom>
          <a:solidFill>
            <a:srgbClr val="51DF9C"/>
          </a:solidFill>
          <a:ln/>
        </p:spPr>
      </p:sp>
      <p:sp>
        <p:nvSpPr>
          <p:cNvPr id="10" name="Shape 8"/>
          <p:cNvSpPr/>
          <p:nvPr/>
        </p:nvSpPr>
        <p:spPr>
          <a:xfrm>
            <a:off x="2468880" y="4754880"/>
            <a:ext cx="146304" cy="146304"/>
          </a:xfrm>
          <a:prstGeom prst="ellipse">
            <a:avLst/>
          </a:prstGeom>
          <a:solidFill>
            <a:srgbClr val="8E7FF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C7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MEMORY OS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03504" y="182880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E5E0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DecisionGraph</a:t>
            </a:r>
            <a:endParaRPr lang="en-US" sz="6400" dirty="0"/>
          </a:p>
        </p:txBody>
      </p:sp>
      <p:sp>
        <p:nvSpPr>
          <p:cNvPr id="13" name="Text 11"/>
          <p:cNvSpPr/>
          <p:nvPr/>
        </p:nvSpPr>
        <p:spPr>
          <a:xfrm>
            <a:off x="640080" y="32004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C9C4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operating system for your organization's collective intelligence — an interconnected graph of knowledge, decisions, discussions, and outcomes that compounds over time.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008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</a:t>
            </a:r>
            <a:pPr indent="0" marL="0">
              <a:buNone/>
            </a:pPr>
            <a:r>
              <a:rPr lang="en-US" sz="1400" dirty="0">
                <a:solidFill>
                  <a:srgbClr val="92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</a:t>
            </a:r>
            <a:pPr indent="0" marL="0">
              <a:buNone/>
            </a:pPr>
            <a:r>
              <a:rPr lang="en-US" sz="1400" b="1" dirty="0">
                <a:solidFill>
                  <a:srgbClr val="4DD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Memory</a:t>
            </a:r>
            <a:pPr indent="0" marL="0">
              <a:buNone/>
            </a:pPr>
            <a:r>
              <a:rPr lang="en-US" sz="1400" dirty="0">
                <a:solidFill>
                  <a:srgbClr val="92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</a:t>
            </a:r>
            <a:pPr indent="0" marL="0">
              <a:buNone/>
            </a:pPr>
            <a:r>
              <a:rPr lang="en-US" sz="1400" b="1" dirty="0">
                <a:solidFill>
                  <a:srgbClr val="51D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Simulation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312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B4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5E0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Organizations forget what they decide — and why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474720" cy="3383280"/>
          </a:xfrm>
          <a:prstGeom prst="roundRect">
            <a:avLst>
              <a:gd name="adj" fmla="val 2432"/>
            </a:avLst>
          </a:prstGeom>
          <a:solidFill>
            <a:srgbClr val="201F27"/>
          </a:solidFill>
          <a:ln w="12700">
            <a:solidFill>
              <a:srgbClr val="474554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240280"/>
            <a:ext cx="640080" cy="640080"/>
          </a:xfrm>
          <a:prstGeom prst="ellipse">
            <a:avLst/>
          </a:prstGeom>
          <a:solidFill>
            <a:srgbClr val="2A2932"/>
          </a:solidFill>
          <a:ln w="12700">
            <a:solidFill>
              <a:srgbClr val="FFB4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B4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32688" y="30632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E0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Decisions lose their rationale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32688" y="3886200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9C4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choice was made evaporates the moment the meeting ends. New teams repeat old mistakes.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1874520"/>
            <a:ext cx="3474720" cy="3383280"/>
          </a:xfrm>
          <a:prstGeom prst="roundRect">
            <a:avLst>
              <a:gd name="adj" fmla="val 2432"/>
            </a:avLst>
          </a:prstGeom>
          <a:solidFill>
            <a:srgbClr val="201F27"/>
          </a:solidFill>
          <a:ln w="12700">
            <a:solidFill>
              <a:srgbClr val="474554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2240280"/>
            <a:ext cx="640080" cy="640080"/>
          </a:xfrm>
          <a:prstGeom prst="ellipse">
            <a:avLst/>
          </a:prstGeom>
          <a:solidFill>
            <a:srgbClr val="2A2932"/>
          </a:solidFill>
          <a:ln w="12700">
            <a:solidFill>
              <a:srgbClr val="FFB4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B4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636008" y="30632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E0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Knowledge is fragmented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36008" y="3886200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9C4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Docs, wikis, threads, calls — institutional truth is scattered across a dozen silos no one can query.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1874520"/>
            <a:ext cx="3474720" cy="3383280"/>
          </a:xfrm>
          <a:prstGeom prst="roundRect">
            <a:avLst>
              <a:gd name="adj" fmla="val 2432"/>
            </a:avLst>
          </a:prstGeom>
          <a:solidFill>
            <a:srgbClr val="201F27"/>
          </a:solidFill>
          <a:ln w="12700">
            <a:solidFill>
              <a:srgbClr val="474554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66760" y="2240280"/>
            <a:ext cx="640080" cy="640080"/>
          </a:xfrm>
          <a:prstGeom prst="ellipse">
            <a:avLst/>
          </a:prstGeom>
          <a:solidFill>
            <a:srgbClr val="2A2932"/>
          </a:solidFill>
          <a:ln w="12700">
            <a:solidFill>
              <a:srgbClr val="FFB4A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6676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B4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339328" y="30632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E0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learning loop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39328" y="3886200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9C4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are never tied back to the decisions that caused them, so the org never gets smarter.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55321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28E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“If your company forgot everything it learned last quarter, would anyone notice in time?”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2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2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DECISIONGRAPH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12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7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5E0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graph. Every decision. Permanent recall.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C9C4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DecisionGraph ingests anything — files, web pages, transcripts — extracts an entity graph, and turns every answer into a durable, outcome-tracked decision node that future questions build on.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3474720" cy="2880360"/>
          </a:xfrm>
          <a:prstGeom prst="roundRect">
            <a:avLst>
              <a:gd name="adj" fmla="val 2857"/>
            </a:avLst>
          </a:prstGeom>
          <a:solidFill>
            <a:srgbClr val="201F27"/>
          </a:solidFill>
          <a:ln w="12700">
            <a:solidFill>
              <a:srgbClr val="474554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697480"/>
            <a:ext cx="3474720" cy="109728"/>
          </a:xfrm>
          <a:prstGeom prst="rect">
            <a:avLst/>
          </a:prstGeom>
          <a:solidFill>
            <a:srgbClr val="C7BFFF"/>
          </a:solidFill>
          <a:ln/>
        </p:spPr>
      </p:sp>
      <p:sp>
        <p:nvSpPr>
          <p:cNvPr id="7" name="Text 5"/>
          <p:cNvSpPr/>
          <p:nvPr/>
        </p:nvSpPr>
        <p:spPr>
          <a:xfrm>
            <a:off x="932688" y="2971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B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Capture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32688" y="34564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2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32688" y="3840480"/>
            <a:ext cx="2971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9C4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extracts entities + relations from docs, URLs, YouTube. Communities detected, beam-searched on every query.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43400" y="2697480"/>
            <a:ext cx="3474720" cy="2880360"/>
          </a:xfrm>
          <a:prstGeom prst="roundRect">
            <a:avLst>
              <a:gd name="adj" fmla="val 2857"/>
            </a:avLst>
          </a:prstGeom>
          <a:solidFill>
            <a:srgbClr val="201F27"/>
          </a:solidFill>
          <a:ln w="12700">
            <a:solidFill>
              <a:srgbClr val="474554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43400" y="2697480"/>
            <a:ext cx="3474720" cy="109728"/>
          </a:xfrm>
          <a:prstGeom prst="rect">
            <a:avLst/>
          </a:prstGeom>
          <a:solidFill>
            <a:srgbClr val="4DDADA"/>
          </a:solidFill>
          <a:ln/>
        </p:spPr>
      </p:sp>
      <p:sp>
        <p:nvSpPr>
          <p:cNvPr id="12" name="Text 10"/>
          <p:cNvSpPr/>
          <p:nvPr/>
        </p:nvSpPr>
        <p:spPr>
          <a:xfrm>
            <a:off x="4636008" y="2971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DDA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Decide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36008" y="34564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2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MEMORY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36008" y="3840480"/>
            <a:ext cx="2971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9C4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stored with confidence, outcome, lineage. It decays, supersedes, and compiles a living “current truth.”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46720" y="2697480"/>
            <a:ext cx="3474720" cy="2880360"/>
          </a:xfrm>
          <a:prstGeom prst="roundRect">
            <a:avLst>
              <a:gd name="adj" fmla="val 2857"/>
            </a:avLst>
          </a:prstGeom>
          <a:solidFill>
            <a:srgbClr val="201F27"/>
          </a:solidFill>
          <a:ln w="12700">
            <a:solidFill>
              <a:srgbClr val="474554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46720" y="2697480"/>
            <a:ext cx="3474720" cy="109728"/>
          </a:xfrm>
          <a:prstGeom prst="rect">
            <a:avLst/>
          </a:prstGeom>
          <a:solidFill>
            <a:srgbClr val="51DF9C"/>
          </a:solidFill>
          <a:ln/>
        </p:spPr>
      </p:sp>
      <p:sp>
        <p:nvSpPr>
          <p:cNvPr id="17" name="Text 15"/>
          <p:cNvSpPr/>
          <p:nvPr/>
        </p:nvSpPr>
        <p:spPr>
          <a:xfrm>
            <a:off x="8339328" y="2971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1DF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Simulate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339328" y="34564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2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MIROFISH STUDIO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339328" y="3840480"/>
            <a:ext cx="2971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9C4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Stress-test major decisions through multi-persona agent simulation before you commit.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2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2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DECISIONGRAPH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12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7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5E0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fits together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12080" cy="960120"/>
          </a:xfrm>
          <a:prstGeom prst="roundRect">
            <a:avLst>
              <a:gd name="adj" fmla="val 8571"/>
            </a:avLst>
          </a:prstGeom>
          <a:solidFill>
            <a:srgbClr val="201F27"/>
          </a:solidFill>
          <a:ln w="12700">
            <a:solidFill>
              <a:srgbClr val="474554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83080"/>
            <a:ext cx="91440" cy="960120"/>
          </a:xfrm>
          <a:prstGeom prst="rect">
            <a:avLst/>
          </a:prstGeom>
          <a:solidFill>
            <a:srgbClr val="C7BFFF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1929384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E0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Browser  →  Landing + SPA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96112" y="235000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9C4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Stitch landing at /  ·  full app at /app  (8 tabs)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880360"/>
            <a:ext cx="5212080" cy="1097280"/>
          </a:xfrm>
          <a:prstGeom prst="roundRect">
            <a:avLst>
              <a:gd name="adj" fmla="val 7500"/>
            </a:avLst>
          </a:prstGeom>
          <a:solidFill>
            <a:srgbClr val="201F27"/>
          </a:solidFill>
          <a:ln w="12700">
            <a:solidFill>
              <a:srgbClr val="474554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880360"/>
            <a:ext cx="91440" cy="1097280"/>
          </a:xfrm>
          <a:prstGeom prst="rect">
            <a:avLst/>
          </a:prstGeom>
          <a:solidFill>
            <a:srgbClr val="4DDADA"/>
          </a:solidFill>
          <a:ln/>
        </p:spPr>
      </p:sp>
      <p:sp>
        <p:nvSpPr>
          <p:cNvPr id="10" name="Text 8"/>
          <p:cNvSpPr/>
          <p:nvPr/>
        </p:nvSpPr>
        <p:spPr>
          <a:xfrm>
            <a:off x="896112" y="3026664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E0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FastAPI Server (:8000)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96112" y="344728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9C4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Per-request workspace proxy · 40+ endpoints · rate limits · durable job queue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4114800"/>
            <a:ext cx="5212080" cy="1051560"/>
          </a:xfrm>
          <a:prstGeom prst="roundRect">
            <a:avLst>
              <a:gd name="adj" fmla="val 7826"/>
            </a:avLst>
          </a:prstGeom>
          <a:solidFill>
            <a:srgbClr val="201F27"/>
          </a:solidFill>
          <a:ln w="12700">
            <a:solidFill>
              <a:srgbClr val="474554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4114800"/>
            <a:ext cx="91440" cy="1051560"/>
          </a:xfrm>
          <a:prstGeom prst="rect">
            <a:avLst/>
          </a:prstGeom>
          <a:solidFill>
            <a:srgbClr val="51DF9C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" y="4261104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E0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Workspace Manager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96112" y="468172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9C4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DecisionGraph + Hub + Discussion per visitor · LRU evict · shared embed model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26480" y="178308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201F27"/>
          </a:solidFill>
          <a:ln w="12700">
            <a:solidFill>
              <a:srgbClr val="474554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783080"/>
            <a:ext cx="91440" cy="960120"/>
          </a:xfrm>
          <a:prstGeom prst="rect">
            <a:avLst/>
          </a:prstGeom>
          <a:solidFill>
            <a:srgbClr val="8E7FFF"/>
          </a:solidFill>
          <a:ln/>
        </p:spPr>
      </p:sp>
      <p:sp>
        <p:nvSpPr>
          <p:cNvPr id="18" name="Text 16"/>
          <p:cNvSpPr/>
          <p:nvPr/>
        </p:nvSpPr>
        <p:spPr>
          <a:xfrm>
            <a:off x="6382512" y="1929384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E0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Knowledge &amp; Decision Graphs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82512" y="2350008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9C4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NetworkX + community detection · pickled per workspace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26480" y="2880360"/>
            <a:ext cx="5440680" cy="1097280"/>
          </a:xfrm>
          <a:prstGeom prst="roundRect">
            <a:avLst>
              <a:gd name="adj" fmla="val 7500"/>
            </a:avLst>
          </a:prstGeom>
          <a:solidFill>
            <a:srgbClr val="201F27"/>
          </a:solidFill>
          <a:ln w="12700">
            <a:solidFill>
              <a:srgbClr val="474554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26480" y="2880360"/>
            <a:ext cx="91440" cy="1097280"/>
          </a:xfrm>
          <a:prstGeom prst="rect">
            <a:avLst/>
          </a:prstGeom>
          <a:solidFill>
            <a:srgbClr val="F7A94A"/>
          </a:solidFill>
          <a:ln/>
        </p:spPr>
      </p:sp>
      <p:sp>
        <p:nvSpPr>
          <p:cNvPr id="22" name="Text 20"/>
          <p:cNvSpPr/>
          <p:nvPr/>
        </p:nvSpPr>
        <p:spPr>
          <a:xfrm>
            <a:off x="6382512" y="3026664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E0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Gateway (localhost:8080)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82512" y="3447288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9C4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gemini-3-flash, Anthropic format · called server-side, direct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26480" y="4114800"/>
            <a:ext cx="5440680" cy="1051560"/>
          </a:xfrm>
          <a:prstGeom prst="roundRect">
            <a:avLst>
              <a:gd name="adj" fmla="val 7826"/>
            </a:avLst>
          </a:prstGeom>
          <a:solidFill>
            <a:srgbClr val="201F27"/>
          </a:solidFill>
          <a:ln w="12700">
            <a:solidFill>
              <a:srgbClr val="474554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4114800"/>
            <a:ext cx="91440" cy="1051560"/>
          </a:xfrm>
          <a:prstGeom prst="rect">
            <a:avLst/>
          </a:prstGeom>
          <a:solidFill>
            <a:srgbClr val="4DDADA"/>
          </a:solidFill>
          <a:ln/>
        </p:spPr>
      </p:sp>
      <p:sp>
        <p:nvSpPr>
          <p:cNvPr id="26" name="Text 24"/>
          <p:cNvSpPr/>
          <p:nvPr/>
        </p:nvSpPr>
        <p:spPr>
          <a:xfrm>
            <a:off x="6382512" y="4261104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E0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MiroFish Lite + Ollama (:5001/:11434)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82512" y="4681728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9C4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multi-agent simulation · qwen2.5 — zero rate limits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40080" y="544068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2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Public, stable entry: ngrok reserved domain  →  :8000   (survives restarts, no domain owned)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2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2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DECISIONGRAPH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12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7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ENGINE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5E0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GraphRAG: beam search over communities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463040" y="1874520"/>
            <a:ext cx="566928" cy="566928"/>
          </a:xfrm>
          <a:prstGeom prst="ellipse">
            <a:avLst/>
          </a:prstGeom>
          <a:solidFill>
            <a:srgbClr val="2A2932"/>
          </a:solidFill>
          <a:ln w="19050">
            <a:solidFill>
              <a:srgbClr val="C7B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63040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7B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057400" y="2157984"/>
            <a:ext cx="777240" cy="0"/>
          </a:xfrm>
          <a:prstGeom prst="line">
            <a:avLst/>
          </a:prstGeom>
          <a:noFill/>
          <a:ln w="19050">
            <a:solidFill>
              <a:srgbClr val="4745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5603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5E0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Ingest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92608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9C4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→ chunks → LLM triples → entity-resolved graph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75888" y="1874520"/>
            <a:ext cx="566928" cy="566928"/>
          </a:xfrm>
          <a:prstGeom prst="ellipse">
            <a:avLst/>
          </a:prstGeom>
          <a:solidFill>
            <a:srgbClr val="2A2932"/>
          </a:solidFill>
          <a:ln w="19050">
            <a:solidFill>
              <a:srgbClr val="C7B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75888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7B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270248" y="2157984"/>
            <a:ext cx="777240" cy="0"/>
          </a:xfrm>
          <a:prstGeom prst="line">
            <a:avLst/>
          </a:prstGeom>
          <a:noFill/>
          <a:ln w="19050">
            <a:solidFill>
              <a:srgbClr val="4745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52928" y="25603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5E0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Cluster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852928" y="292608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9C4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Louvain communities + LLM summaries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888736" y="1874520"/>
            <a:ext cx="566928" cy="566928"/>
          </a:xfrm>
          <a:prstGeom prst="ellipse">
            <a:avLst/>
          </a:prstGeom>
          <a:solidFill>
            <a:srgbClr val="2A2932"/>
          </a:solidFill>
          <a:ln w="19050">
            <a:solidFill>
              <a:srgbClr val="C7B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88736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7B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483096" y="2157984"/>
            <a:ext cx="777240" cy="0"/>
          </a:xfrm>
          <a:prstGeom prst="line">
            <a:avLst/>
          </a:prstGeom>
          <a:noFill/>
          <a:ln w="19050">
            <a:solidFill>
              <a:srgbClr val="4745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65776" y="25603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5E0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Embed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65776" y="292608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9C4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summaries → vector index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01584" y="1874520"/>
            <a:ext cx="566928" cy="566928"/>
          </a:xfrm>
          <a:prstGeom prst="ellipse">
            <a:avLst/>
          </a:prstGeom>
          <a:solidFill>
            <a:srgbClr val="2A2932"/>
          </a:solidFill>
          <a:ln w="19050">
            <a:solidFill>
              <a:srgbClr val="C7B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01584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7B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695944" y="2157984"/>
            <a:ext cx="777240" cy="0"/>
          </a:xfrm>
          <a:prstGeom prst="line">
            <a:avLst/>
          </a:prstGeom>
          <a:noFill/>
          <a:ln w="19050">
            <a:solidFill>
              <a:srgbClr val="47455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78624" y="25603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5E0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Beam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278624" y="292608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9C4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communities → context triples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0314432" y="1874520"/>
            <a:ext cx="566928" cy="566928"/>
          </a:xfrm>
          <a:prstGeom prst="ellipse">
            <a:avLst/>
          </a:prstGeom>
          <a:solidFill>
            <a:srgbClr val="2A2932"/>
          </a:solidFill>
          <a:ln w="19050">
            <a:solidFill>
              <a:srgbClr val="C7B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314432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7B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491472" y="25603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5E0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Answer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491472" y="292608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9C4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/ Session / Deep ReAct synthesis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0080" y="4434840"/>
            <a:ext cx="10927080" cy="1325880"/>
          </a:xfrm>
          <a:prstGeom prst="roundRect">
            <a:avLst>
              <a:gd name="adj" fmla="val 6207"/>
            </a:avLst>
          </a:prstGeom>
          <a:solidFill>
            <a:srgbClr val="1C1B23"/>
          </a:solidFill>
          <a:ln w="12700">
            <a:solidFill>
              <a:srgbClr val="474554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14400" y="46177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 (RRF):  </a:t>
            </a:r>
            <a:pPr indent="0" marL="0">
              <a:buNone/>
            </a:pPr>
            <a:r>
              <a:rPr lang="en-US" sz="1350" dirty="0">
                <a:solidFill>
                  <a:srgbClr val="C9C4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beam ⊕ keyword pass fused by reciprocal-rank fusion — graph traversal answers what vectors alone miss.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914400" y="51206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DD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routing:  </a:t>
            </a:r>
            <a:pPr indent="0" marL="0">
              <a:buNone/>
            </a:pPr>
            <a:r>
              <a:rPr lang="en-US" sz="1350" dirty="0">
                <a:solidFill>
                  <a:srgbClr val="C9C4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mode=auto classifies temporal / entity / event / general → picks the right strategy automatically.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2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2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DECISIONGRAPH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12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7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MEMORY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5E0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Memory that learns, ages, and connects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74720" cy="1783080"/>
          </a:xfrm>
          <a:prstGeom prst="roundRect">
            <a:avLst>
              <a:gd name="adj" fmla="val 4615"/>
            </a:avLst>
          </a:prstGeom>
          <a:solidFill>
            <a:srgbClr val="201F27"/>
          </a:solidFill>
          <a:ln w="12700">
            <a:solidFill>
              <a:srgbClr val="474554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03120"/>
            <a:ext cx="182880" cy="182880"/>
          </a:xfrm>
          <a:prstGeom prst="ellipse">
            <a:avLst/>
          </a:prstGeom>
          <a:solidFill>
            <a:srgbClr val="C7BFFF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198424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5E0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Uncertainty gate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932688" y="246888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9C4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Refuses to answer when the graph lacks context — instead of hallucinating.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1783080"/>
            <a:ext cx="3474720" cy="1783080"/>
          </a:xfrm>
          <a:prstGeom prst="roundRect">
            <a:avLst>
              <a:gd name="adj" fmla="val 4615"/>
            </a:avLst>
          </a:prstGeom>
          <a:solidFill>
            <a:srgbClr val="201F27"/>
          </a:solidFill>
          <a:ln w="12700">
            <a:solidFill>
              <a:srgbClr val="474554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17720" y="2103120"/>
            <a:ext cx="182880" cy="182880"/>
          </a:xfrm>
          <a:prstGeom prst="ellipse">
            <a:avLst/>
          </a:prstGeom>
          <a:solidFill>
            <a:srgbClr val="4DDADA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98424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5E0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Outcome tracking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636008" y="246888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9C4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/ failure / partial feeds back into confidence + retrieval weight.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1783080"/>
            <a:ext cx="3474720" cy="1783080"/>
          </a:xfrm>
          <a:prstGeom prst="roundRect">
            <a:avLst>
              <a:gd name="adj" fmla="val 4615"/>
            </a:avLst>
          </a:prstGeom>
          <a:solidFill>
            <a:srgbClr val="201F27"/>
          </a:solidFill>
          <a:ln w="12700">
            <a:solidFill>
              <a:srgbClr val="474554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21040" y="2103120"/>
            <a:ext cx="182880" cy="182880"/>
          </a:xfrm>
          <a:prstGeom prst="ellipse">
            <a:avLst/>
          </a:prstGeom>
          <a:solidFill>
            <a:srgbClr val="51DF9C"/>
          </a:solidFill>
          <a:ln/>
        </p:spPr>
      </p:sp>
      <p:sp>
        <p:nvSpPr>
          <p:cNvPr id="14" name="Text 12"/>
          <p:cNvSpPr/>
          <p:nvPr/>
        </p:nvSpPr>
        <p:spPr>
          <a:xfrm>
            <a:off x="8595360" y="198424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5E0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Forgetting &amp; decay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339328" y="246888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9C4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Unused decisions lose confidence; low ones go inactive. Supersede chains.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749040"/>
            <a:ext cx="3474720" cy="1783080"/>
          </a:xfrm>
          <a:prstGeom prst="roundRect">
            <a:avLst>
              <a:gd name="adj" fmla="val 4615"/>
            </a:avLst>
          </a:prstGeom>
          <a:solidFill>
            <a:srgbClr val="201F27"/>
          </a:solidFill>
          <a:ln w="12700">
            <a:solidFill>
              <a:srgbClr val="474554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14400" y="4069080"/>
            <a:ext cx="182880" cy="182880"/>
          </a:xfrm>
          <a:prstGeom prst="ellipse">
            <a:avLst/>
          </a:prstGeom>
          <a:solidFill>
            <a:srgbClr val="F7A94A"/>
          </a:solidFill>
          <a:ln/>
        </p:spPr>
      </p:sp>
      <p:sp>
        <p:nvSpPr>
          <p:cNvPr id="18" name="Text 16"/>
          <p:cNvSpPr/>
          <p:nvPr/>
        </p:nvSpPr>
        <p:spPr>
          <a:xfrm>
            <a:off x="1188720" y="395020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5E0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 relationships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932688" y="443484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9C4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caused_by / depends_on / shares_community — auto-linked, zero LLM.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43400" y="3749040"/>
            <a:ext cx="3474720" cy="1783080"/>
          </a:xfrm>
          <a:prstGeom prst="roundRect">
            <a:avLst>
              <a:gd name="adj" fmla="val 4615"/>
            </a:avLst>
          </a:prstGeom>
          <a:solidFill>
            <a:srgbClr val="201F27"/>
          </a:solidFill>
          <a:ln w="12700">
            <a:solidFill>
              <a:srgbClr val="474554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17720" y="4069080"/>
            <a:ext cx="182880" cy="182880"/>
          </a:xfrm>
          <a:prstGeom prst="ellipse">
            <a:avLst/>
          </a:prstGeom>
          <a:solidFill>
            <a:srgbClr val="8E7FFF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395020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5E0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Cross-company wisdom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4636008" y="443484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9C4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Anonymised patterns surface lessons from peer workspaces.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046720" y="3749040"/>
            <a:ext cx="3474720" cy="1783080"/>
          </a:xfrm>
          <a:prstGeom prst="roundRect">
            <a:avLst>
              <a:gd name="adj" fmla="val 4615"/>
            </a:avLst>
          </a:prstGeom>
          <a:solidFill>
            <a:srgbClr val="201F27"/>
          </a:solidFill>
          <a:ln w="12700">
            <a:solidFill>
              <a:srgbClr val="474554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321040" y="4069080"/>
            <a:ext cx="182880" cy="182880"/>
          </a:xfrm>
          <a:prstGeom prst="ellipse">
            <a:avLst/>
          </a:prstGeom>
          <a:solidFill>
            <a:srgbClr val="FFB4AB"/>
          </a:solidFill>
          <a:ln/>
        </p:spPr>
      </p:sp>
      <p:sp>
        <p:nvSpPr>
          <p:cNvPr id="26" name="Text 24"/>
          <p:cNvSpPr/>
          <p:nvPr/>
        </p:nvSpPr>
        <p:spPr>
          <a:xfrm>
            <a:off x="8595360" y="395020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5E0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Compiled Truth + Timeline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8339328" y="443484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9C4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Rewritten “current understanding” over an immutable evidence log.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2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2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DECISIONGRAPH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12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51D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LAYER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5E0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Nine compounding-memory capabilities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474720" cy="1207008"/>
          </a:xfrm>
          <a:prstGeom prst="roundRect">
            <a:avLst>
              <a:gd name="adj" fmla="val 6818"/>
            </a:avLst>
          </a:prstGeom>
          <a:solidFill>
            <a:srgbClr val="201F27"/>
          </a:solidFill>
          <a:ln w="12700">
            <a:solidFill>
              <a:srgbClr val="474554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029968"/>
            <a:ext cx="548640" cy="548640"/>
          </a:xfrm>
          <a:prstGeom prst="ellipse">
            <a:avLst/>
          </a:prstGeom>
          <a:solidFill>
            <a:srgbClr val="2A2932"/>
          </a:solidFill>
          <a:ln w="12700">
            <a:solidFill>
              <a:srgbClr val="51DF9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2231136"/>
            <a:ext cx="146304" cy="146304"/>
          </a:xfrm>
          <a:prstGeom prst="ellipse">
            <a:avLst/>
          </a:prstGeom>
          <a:solidFill>
            <a:srgbClr val="51DF9C"/>
          </a:solidFill>
          <a:ln/>
        </p:spPr>
      </p:sp>
      <p:sp>
        <p:nvSpPr>
          <p:cNvPr id="7" name="Text 5"/>
          <p:cNvSpPr/>
          <p:nvPr/>
        </p:nvSpPr>
        <p:spPr>
          <a:xfrm>
            <a:off x="1600200" y="20116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E0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Compiled Truth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43400" y="1737360"/>
            <a:ext cx="3474720" cy="1207008"/>
          </a:xfrm>
          <a:prstGeom prst="roundRect">
            <a:avLst>
              <a:gd name="adj" fmla="val 6818"/>
            </a:avLst>
          </a:prstGeom>
          <a:solidFill>
            <a:srgbClr val="201F27"/>
          </a:solidFill>
          <a:ln w="12700">
            <a:solidFill>
              <a:srgbClr val="474554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99432" y="2029968"/>
            <a:ext cx="548640" cy="548640"/>
          </a:xfrm>
          <a:prstGeom prst="ellipse">
            <a:avLst/>
          </a:prstGeom>
          <a:solidFill>
            <a:srgbClr val="2A2932"/>
          </a:solidFill>
          <a:ln w="12700">
            <a:solidFill>
              <a:srgbClr val="51DF9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2231136"/>
            <a:ext cx="146304" cy="146304"/>
          </a:xfrm>
          <a:prstGeom prst="ellipse">
            <a:avLst/>
          </a:prstGeom>
          <a:solidFill>
            <a:srgbClr val="51DF9C"/>
          </a:solidFill>
          <a:ln/>
        </p:spPr>
      </p:sp>
      <p:sp>
        <p:nvSpPr>
          <p:cNvPr id="11" name="Text 9"/>
          <p:cNvSpPr/>
          <p:nvPr/>
        </p:nvSpPr>
        <p:spPr>
          <a:xfrm>
            <a:off x="5303520" y="20116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E0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Instant Recall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46720" y="1737360"/>
            <a:ext cx="3474720" cy="1207008"/>
          </a:xfrm>
          <a:prstGeom prst="roundRect">
            <a:avLst>
              <a:gd name="adj" fmla="val 6818"/>
            </a:avLst>
          </a:prstGeom>
          <a:solidFill>
            <a:srgbClr val="201F27"/>
          </a:solidFill>
          <a:ln w="12700">
            <a:solidFill>
              <a:srgbClr val="474554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02752" y="2029968"/>
            <a:ext cx="548640" cy="548640"/>
          </a:xfrm>
          <a:prstGeom prst="ellipse">
            <a:avLst/>
          </a:prstGeom>
          <a:solidFill>
            <a:srgbClr val="2A2932"/>
          </a:solidFill>
          <a:ln w="12700">
            <a:solidFill>
              <a:srgbClr val="51DF9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03920" y="2231136"/>
            <a:ext cx="146304" cy="146304"/>
          </a:xfrm>
          <a:prstGeom prst="ellipse">
            <a:avLst/>
          </a:prstGeom>
          <a:solidFill>
            <a:srgbClr val="51DF9C"/>
          </a:solidFill>
          <a:ln/>
        </p:spPr>
      </p:sp>
      <p:sp>
        <p:nvSpPr>
          <p:cNvPr id="15" name="Text 13"/>
          <p:cNvSpPr/>
          <p:nvPr/>
        </p:nvSpPr>
        <p:spPr>
          <a:xfrm>
            <a:off x="9006840" y="20116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E0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Dream Cycle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3108960"/>
            <a:ext cx="3474720" cy="1207008"/>
          </a:xfrm>
          <a:prstGeom prst="roundRect">
            <a:avLst>
              <a:gd name="adj" fmla="val 6818"/>
            </a:avLst>
          </a:prstGeom>
          <a:solidFill>
            <a:srgbClr val="201F27"/>
          </a:solidFill>
          <a:ln w="12700">
            <a:solidFill>
              <a:srgbClr val="474554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96112" y="3401568"/>
            <a:ext cx="548640" cy="548640"/>
          </a:xfrm>
          <a:prstGeom prst="ellipse">
            <a:avLst/>
          </a:prstGeom>
          <a:solidFill>
            <a:srgbClr val="2A2932"/>
          </a:solidFill>
          <a:ln w="12700">
            <a:solidFill>
              <a:srgbClr val="51DF9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97280" y="3602736"/>
            <a:ext cx="146304" cy="146304"/>
          </a:xfrm>
          <a:prstGeom prst="ellipse">
            <a:avLst/>
          </a:prstGeom>
          <a:solidFill>
            <a:srgbClr val="51DF9C"/>
          </a:solidFill>
          <a:ln/>
        </p:spPr>
      </p:sp>
      <p:sp>
        <p:nvSpPr>
          <p:cNvPr id="19" name="Text 17"/>
          <p:cNvSpPr/>
          <p:nvPr/>
        </p:nvSpPr>
        <p:spPr>
          <a:xfrm>
            <a:off x="1600200" y="33832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E0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Hybrid + RRF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343400" y="3108960"/>
            <a:ext cx="3474720" cy="1207008"/>
          </a:xfrm>
          <a:prstGeom prst="roundRect">
            <a:avLst>
              <a:gd name="adj" fmla="val 6818"/>
            </a:avLst>
          </a:prstGeom>
          <a:solidFill>
            <a:srgbClr val="201F27"/>
          </a:solidFill>
          <a:ln w="12700">
            <a:solidFill>
              <a:srgbClr val="474554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99432" y="3401568"/>
            <a:ext cx="548640" cy="548640"/>
          </a:xfrm>
          <a:prstGeom prst="ellipse">
            <a:avLst/>
          </a:prstGeom>
          <a:solidFill>
            <a:srgbClr val="2A2932"/>
          </a:solidFill>
          <a:ln w="12700">
            <a:solidFill>
              <a:srgbClr val="51DF9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00600" y="3602736"/>
            <a:ext cx="146304" cy="146304"/>
          </a:xfrm>
          <a:prstGeom prst="ellipse">
            <a:avLst/>
          </a:prstGeom>
          <a:solidFill>
            <a:srgbClr val="51DF9C"/>
          </a:solidFill>
          <a:ln/>
        </p:spPr>
      </p:sp>
      <p:sp>
        <p:nvSpPr>
          <p:cNvPr id="23" name="Text 21"/>
          <p:cNvSpPr/>
          <p:nvPr/>
        </p:nvSpPr>
        <p:spPr>
          <a:xfrm>
            <a:off x="5303520" y="33832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E0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Self-wiring links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046720" y="3108960"/>
            <a:ext cx="3474720" cy="1207008"/>
          </a:xfrm>
          <a:prstGeom prst="roundRect">
            <a:avLst>
              <a:gd name="adj" fmla="val 6818"/>
            </a:avLst>
          </a:prstGeom>
          <a:solidFill>
            <a:srgbClr val="201F27"/>
          </a:solidFill>
          <a:ln w="12700">
            <a:solidFill>
              <a:srgbClr val="474554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302752" y="3401568"/>
            <a:ext cx="548640" cy="548640"/>
          </a:xfrm>
          <a:prstGeom prst="ellipse">
            <a:avLst/>
          </a:prstGeom>
          <a:solidFill>
            <a:srgbClr val="2A2932"/>
          </a:solidFill>
          <a:ln w="12700">
            <a:solidFill>
              <a:srgbClr val="51DF9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03920" y="3602736"/>
            <a:ext cx="146304" cy="146304"/>
          </a:xfrm>
          <a:prstGeom prst="ellipse">
            <a:avLst/>
          </a:prstGeom>
          <a:solidFill>
            <a:srgbClr val="51DF9C"/>
          </a:solidFill>
          <a:ln/>
        </p:spPr>
      </p:sp>
      <p:sp>
        <p:nvSpPr>
          <p:cNvPr id="27" name="Text 25"/>
          <p:cNvSpPr/>
          <p:nvPr/>
        </p:nvSpPr>
        <p:spPr>
          <a:xfrm>
            <a:off x="9006840" y="33832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E0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Durable Jobs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0080" y="4480560"/>
            <a:ext cx="3474720" cy="1207008"/>
          </a:xfrm>
          <a:prstGeom prst="roundRect">
            <a:avLst>
              <a:gd name="adj" fmla="val 6818"/>
            </a:avLst>
          </a:prstGeom>
          <a:solidFill>
            <a:srgbClr val="201F27"/>
          </a:solidFill>
          <a:ln w="12700">
            <a:solidFill>
              <a:srgbClr val="474554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96112" y="4773168"/>
            <a:ext cx="548640" cy="548640"/>
          </a:xfrm>
          <a:prstGeom prst="ellipse">
            <a:avLst/>
          </a:prstGeom>
          <a:solidFill>
            <a:srgbClr val="2A2932"/>
          </a:solidFill>
          <a:ln w="12700">
            <a:solidFill>
              <a:srgbClr val="51DF9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97280" y="4974336"/>
            <a:ext cx="146304" cy="146304"/>
          </a:xfrm>
          <a:prstGeom prst="ellipse">
            <a:avLst/>
          </a:prstGeom>
          <a:solidFill>
            <a:srgbClr val="51DF9C"/>
          </a:solidFill>
          <a:ln/>
        </p:spPr>
      </p:sp>
      <p:sp>
        <p:nvSpPr>
          <p:cNvPr id="31" name="Text 29"/>
          <p:cNvSpPr/>
          <p:nvPr/>
        </p:nvSpPr>
        <p:spPr>
          <a:xfrm>
            <a:off x="1600200" y="47548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E0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Markdown Export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343400" y="4480560"/>
            <a:ext cx="3474720" cy="1207008"/>
          </a:xfrm>
          <a:prstGeom prst="roundRect">
            <a:avLst>
              <a:gd name="adj" fmla="val 6818"/>
            </a:avLst>
          </a:prstGeom>
          <a:solidFill>
            <a:srgbClr val="201F27"/>
          </a:solidFill>
          <a:ln w="12700">
            <a:solidFill>
              <a:srgbClr val="474554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99432" y="4773168"/>
            <a:ext cx="548640" cy="548640"/>
          </a:xfrm>
          <a:prstGeom prst="ellipse">
            <a:avLst/>
          </a:prstGeom>
          <a:solidFill>
            <a:srgbClr val="2A2932"/>
          </a:solidFill>
          <a:ln w="12700">
            <a:solidFill>
              <a:srgbClr val="51DF9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00600" y="4974336"/>
            <a:ext cx="146304" cy="146304"/>
          </a:xfrm>
          <a:prstGeom prst="ellipse">
            <a:avLst/>
          </a:prstGeom>
          <a:solidFill>
            <a:srgbClr val="51DF9C"/>
          </a:solidFill>
          <a:ln/>
        </p:spPr>
      </p:sp>
      <p:sp>
        <p:nvSpPr>
          <p:cNvPr id="35" name="Text 33"/>
          <p:cNvSpPr/>
          <p:nvPr/>
        </p:nvSpPr>
        <p:spPr>
          <a:xfrm>
            <a:off x="5303520" y="47548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E0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Intent Routing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046720" y="4480560"/>
            <a:ext cx="3474720" cy="1207008"/>
          </a:xfrm>
          <a:prstGeom prst="roundRect">
            <a:avLst>
              <a:gd name="adj" fmla="val 6818"/>
            </a:avLst>
          </a:prstGeom>
          <a:solidFill>
            <a:srgbClr val="201F27"/>
          </a:solidFill>
          <a:ln w="12700">
            <a:solidFill>
              <a:srgbClr val="474554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302752" y="4773168"/>
            <a:ext cx="548640" cy="548640"/>
          </a:xfrm>
          <a:prstGeom prst="ellipse">
            <a:avLst/>
          </a:prstGeom>
          <a:solidFill>
            <a:srgbClr val="2A2932"/>
          </a:solidFill>
          <a:ln w="12700">
            <a:solidFill>
              <a:srgbClr val="51DF9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503920" y="4974336"/>
            <a:ext cx="146304" cy="146304"/>
          </a:xfrm>
          <a:prstGeom prst="ellipse">
            <a:avLst/>
          </a:prstGeom>
          <a:solidFill>
            <a:srgbClr val="51DF9C"/>
          </a:solidFill>
          <a:ln/>
        </p:spPr>
      </p:sp>
      <p:sp>
        <p:nvSpPr>
          <p:cNvPr id="39" name="Text 37"/>
          <p:cNvSpPr/>
          <p:nvPr/>
        </p:nvSpPr>
        <p:spPr>
          <a:xfrm>
            <a:off x="9006840" y="47548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E0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 Harness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40080" y="5897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2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restart-safe, mostly zero-LLM, additive — the brain gets sharper while it sleeps.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2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40080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2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DECISIONGRAPH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12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DD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DEPLOYMENT-SAFE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5E0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visitor gets a private, isolated brain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03520" cy="1645920"/>
          </a:xfrm>
          <a:prstGeom prst="roundRect">
            <a:avLst>
              <a:gd name="adj" fmla="val 5000"/>
            </a:avLst>
          </a:prstGeom>
          <a:solidFill>
            <a:srgbClr val="201F27"/>
          </a:solidFill>
          <a:ln w="12700">
            <a:solidFill>
              <a:srgbClr val="474554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32688" y="196596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DDA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Per-workspace storage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32688" y="2404872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9C4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dirs for graph, decisions, sessions — concurrency-safe by construction, no global mutation.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783080"/>
            <a:ext cx="5303520" cy="1645920"/>
          </a:xfrm>
          <a:prstGeom prst="roundRect">
            <a:avLst>
              <a:gd name="adj" fmla="val 5000"/>
            </a:avLst>
          </a:prstGeom>
          <a:solidFill>
            <a:srgbClr val="201F27"/>
          </a:solidFill>
          <a:ln w="12700">
            <a:solidFill>
              <a:srgbClr val="474554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64808" y="196596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DDA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Cookie identity, no login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64808" y="2404872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9C4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visit mints a workspace token; data scoped to it for 30 days.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611880"/>
            <a:ext cx="5303520" cy="1645920"/>
          </a:xfrm>
          <a:prstGeom prst="roundRect">
            <a:avLst>
              <a:gd name="adj" fmla="val 5000"/>
            </a:avLst>
          </a:prstGeom>
          <a:solidFill>
            <a:srgbClr val="201F27"/>
          </a:solidFill>
          <a:ln w="12700">
            <a:solidFill>
              <a:srgbClr val="474554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32688" y="379476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DDA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Server-managed LLM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32688" y="4233672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9C4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Visitors can't see, change, or kill the LLM. /disconnect &amp; settings are locked behind an admin token.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72200" y="3611880"/>
            <a:ext cx="5303520" cy="1645920"/>
          </a:xfrm>
          <a:prstGeom prst="roundRect">
            <a:avLst>
              <a:gd name="adj" fmla="val 5000"/>
            </a:avLst>
          </a:prstGeom>
          <a:solidFill>
            <a:srgbClr val="201F27"/>
          </a:solidFill>
          <a:ln w="12700">
            <a:solidFill>
              <a:srgbClr val="474554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64808" y="379476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DDA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Abuse limits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64808" y="4233672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9C4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Per-workspace rate windows, 5 MB/file caps, global LLM circuit breaker.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55321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51D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Proven: </a:t>
            </a:r>
            <a:pPr indent="0" marL="0">
              <a:buNone/>
            </a:pPr>
            <a:r>
              <a:rPr lang="en-US" sz="1350" i="1" dirty="0">
                <a:solidFill>
                  <a:srgbClr val="C9C4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isolation tests — decision in A is invisible in B, across HTTP, restarts, and LRU eviction.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2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2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DECISIONGRAPH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12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51D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STUDIO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5E0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Stress-test a decision before you make it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C9C4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a major decision. MiroFish builds an ontology, generates stakeholder personas (investors, competitors, customers, employees, regulators…), runs multi-round reactions, and returns a consensus + risk + timeline report.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1691640" cy="868680"/>
          </a:xfrm>
          <a:prstGeom prst="roundRect">
            <a:avLst>
              <a:gd name="adj" fmla="val 9474"/>
            </a:avLst>
          </a:prstGeom>
          <a:solidFill>
            <a:srgbClr val="201F27"/>
          </a:solidFill>
          <a:ln w="12700">
            <a:solidFill>
              <a:srgbClr val="474554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74320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5E0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340864" y="3172968"/>
            <a:ext cx="164592" cy="0"/>
          </a:xfrm>
          <a:prstGeom prst="line">
            <a:avLst/>
          </a:prstGeom>
          <a:noFill/>
          <a:ln w="25400">
            <a:solidFill>
              <a:srgbClr val="C7B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14600" y="2743200"/>
            <a:ext cx="1691640" cy="868680"/>
          </a:xfrm>
          <a:prstGeom prst="roundRect">
            <a:avLst>
              <a:gd name="adj" fmla="val 9474"/>
            </a:avLst>
          </a:prstGeom>
          <a:solidFill>
            <a:srgbClr val="201F27"/>
          </a:solidFill>
          <a:ln w="12700">
            <a:solidFill>
              <a:srgbClr val="474554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14600" y="274320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5E0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15384" y="3172968"/>
            <a:ext cx="164592" cy="0"/>
          </a:xfrm>
          <a:prstGeom prst="line">
            <a:avLst/>
          </a:prstGeom>
          <a:noFill/>
          <a:ln w="25400">
            <a:solidFill>
              <a:srgbClr val="C7B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2743200"/>
            <a:ext cx="1691640" cy="868680"/>
          </a:xfrm>
          <a:prstGeom prst="roundRect">
            <a:avLst>
              <a:gd name="adj" fmla="val 9474"/>
            </a:avLst>
          </a:prstGeom>
          <a:solidFill>
            <a:srgbClr val="201F27"/>
          </a:solidFill>
          <a:ln w="12700">
            <a:solidFill>
              <a:srgbClr val="474554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389120" y="274320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5E0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89904" y="3172968"/>
            <a:ext cx="164592" cy="0"/>
          </a:xfrm>
          <a:prstGeom prst="line">
            <a:avLst/>
          </a:prstGeom>
          <a:noFill/>
          <a:ln w="25400">
            <a:solidFill>
              <a:srgbClr val="C7B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63640" y="2743200"/>
            <a:ext cx="1691640" cy="868680"/>
          </a:xfrm>
          <a:prstGeom prst="roundRect">
            <a:avLst>
              <a:gd name="adj" fmla="val 9474"/>
            </a:avLst>
          </a:prstGeom>
          <a:solidFill>
            <a:srgbClr val="201F27"/>
          </a:solidFill>
          <a:ln w="12700">
            <a:solidFill>
              <a:srgbClr val="474554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63640" y="274320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5E0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964424" y="3172968"/>
            <a:ext cx="164592" cy="0"/>
          </a:xfrm>
          <a:prstGeom prst="line">
            <a:avLst/>
          </a:prstGeom>
          <a:noFill/>
          <a:ln w="25400">
            <a:solidFill>
              <a:srgbClr val="C7B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8160" y="2743200"/>
            <a:ext cx="1691640" cy="868680"/>
          </a:xfrm>
          <a:prstGeom prst="roundRect">
            <a:avLst>
              <a:gd name="adj" fmla="val 9474"/>
            </a:avLst>
          </a:prstGeom>
          <a:solidFill>
            <a:srgbClr val="201F27"/>
          </a:solidFill>
          <a:ln w="12700">
            <a:solidFill>
              <a:srgbClr val="474554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138160" y="274320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5E0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838944" y="3172968"/>
            <a:ext cx="164592" cy="0"/>
          </a:xfrm>
          <a:prstGeom prst="line">
            <a:avLst/>
          </a:prstGeom>
          <a:noFill/>
          <a:ln w="25400">
            <a:solidFill>
              <a:srgbClr val="C7B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12680" y="2743200"/>
            <a:ext cx="1691640" cy="868680"/>
          </a:xfrm>
          <a:prstGeom prst="roundRect">
            <a:avLst>
              <a:gd name="adj" fmla="val 9474"/>
            </a:avLst>
          </a:prstGeom>
          <a:solidFill>
            <a:srgbClr val="201F27"/>
          </a:solidFill>
          <a:ln w="12700">
            <a:solidFill>
              <a:srgbClr val="474554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012680" y="274320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1D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as decision node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3977640"/>
            <a:ext cx="10927080" cy="1554480"/>
          </a:xfrm>
          <a:prstGeom prst="roundRect">
            <a:avLst>
              <a:gd name="adj" fmla="val 5294"/>
            </a:avLst>
          </a:prstGeom>
          <a:solidFill>
            <a:srgbClr val="1C1B23"/>
          </a:solidFill>
          <a:ln w="12700">
            <a:solidFill>
              <a:srgbClr val="474554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14400" y="420624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51D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fully local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9C4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Ollama (qwen2.5) — no API limits. Collapsed multi-round engine: ~10–40 LLM calls, minutes not hours. </a:t>
            </a:r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4DD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&amp; restart-safe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9C4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via the SQLite job queue.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2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2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DECISIONGRAPH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12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7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INTEROPERABILITY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5E0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by design: MCP + integrations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3749040"/>
          </a:xfrm>
          <a:prstGeom prst="roundRect">
            <a:avLst>
              <a:gd name="adj" fmla="val 2195"/>
            </a:avLst>
          </a:prstGeom>
          <a:solidFill>
            <a:srgbClr val="201F27"/>
          </a:solidFill>
          <a:ln w="12700">
            <a:solidFill>
              <a:srgbClr val="474554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659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7B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 Server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9C4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the brain to any agent — Claude Desktop, Claude Code, custom — locally (stdio) or remotely (HTTP over the public URL).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914400" y="3429000"/>
            <a:ext cx="2331720" cy="347472"/>
          </a:xfrm>
          <a:prstGeom prst="roundRect">
            <a:avLst>
              <a:gd name="adj" fmla="val 50000"/>
            </a:avLst>
          </a:prstGeom>
          <a:solidFill>
            <a:srgbClr val="2A2932"/>
          </a:solidFill>
          <a:ln w="12700">
            <a:solidFill>
              <a:srgbClr val="4DDA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42900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DD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list_companies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3429000"/>
            <a:ext cx="2331720" cy="347472"/>
          </a:xfrm>
          <a:prstGeom prst="roundRect">
            <a:avLst>
              <a:gd name="adj" fmla="val 50000"/>
            </a:avLst>
          </a:prstGeom>
          <a:solidFill>
            <a:srgbClr val="2A2932"/>
          </a:solidFill>
          <a:ln w="12700">
            <a:solidFill>
              <a:srgbClr val="4DDA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342900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DD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query_knowledge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14400" y="3886200"/>
            <a:ext cx="2331720" cy="347472"/>
          </a:xfrm>
          <a:prstGeom prst="roundRect">
            <a:avLst>
              <a:gd name="adj" fmla="val 50000"/>
            </a:avLst>
          </a:prstGeom>
          <a:solidFill>
            <a:srgbClr val="2A2932"/>
          </a:solidFill>
          <a:ln w="12700">
            <a:solidFill>
              <a:srgbClr val="4D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88620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DD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get_past_decisions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83280" y="3886200"/>
            <a:ext cx="2331720" cy="347472"/>
          </a:xfrm>
          <a:prstGeom prst="roundRect">
            <a:avLst>
              <a:gd name="adj" fmla="val 50000"/>
            </a:avLst>
          </a:prstGeom>
          <a:solidFill>
            <a:srgbClr val="2A2932"/>
          </a:solidFill>
          <a:ln w="12700">
            <a:solidFill>
              <a:srgbClr val="4DDA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388620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DD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store_decision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4400" y="4343400"/>
            <a:ext cx="2331720" cy="347472"/>
          </a:xfrm>
          <a:prstGeom prst="roundRect">
            <a:avLst>
              <a:gd name="adj" fmla="val 50000"/>
            </a:avLst>
          </a:prstGeom>
          <a:solidFill>
            <a:srgbClr val="2A2932"/>
          </a:solidFill>
          <a:ln w="12700">
            <a:solidFill>
              <a:srgbClr val="4D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34340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DD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ingest_document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83280" y="4343400"/>
            <a:ext cx="2331720" cy="347472"/>
          </a:xfrm>
          <a:prstGeom prst="roundRect">
            <a:avLst>
              <a:gd name="adj" fmla="val 50000"/>
            </a:avLst>
          </a:prstGeom>
          <a:solidFill>
            <a:srgbClr val="2A2932"/>
          </a:solidFill>
          <a:ln w="12700">
            <a:solidFill>
              <a:srgbClr val="4DDA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434340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DD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get_stats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4400" y="4800600"/>
            <a:ext cx="2331720" cy="347472"/>
          </a:xfrm>
          <a:prstGeom prst="roundRect">
            <a:avLst>
              <a:gd name="adj" fmla="val 50000"/>
            </a:avLst>
          </a:prstGeom>
          <a:solidFill>
            <a:srgbClr val="2A2932"/>
          </a:solidFill>
          <a:ln w="12700">
            <a:solidFill>
              <a:srgbClr val="4DDAD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80060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DD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72200" y="1783080"/>
            <a:ext cx="5394960" cy="3749040"/>
          </a:xfrm>
          <a:prstGeom prst="roundRect">
            <a:avLst>
              <a:gd name="adj" fmla="val 2195"/>
            </a:avLst>
          </a:prstGeom>
          <a:solidFill>
            <a:srgbClr val="201F27"/>
          </a:solidFill>
          <a:ln w="12700">
            <a:solidFill>
              <a:srgbClr val="474554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46520" y="19659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1DF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 Integrations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446520" y="23774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9C4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Auto-route inputs into a company graph; auto-broadcast every decision/session out.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46520" y="3154680"/>
            <a:ext cx="1627632" cy="347472"/>
          </a:xfrm>
          <a:prstGeom prst="roundRect">
            <a:avLst>
              <a:gd name="adj" fmla="val 50000"/>
            </a:avLst>
          </a:prstGeom>
          <a:solidFill>
            <a:srgbClr val="2A2932"/>
          </a:solidFill>
          <a:ln w="12700">
            <a:solidFill>
              <a:srgbClr val="51DF9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3154680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1D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202168" y="3154680"/>
            <a:ext cx="1627632" cy="347472"/>
          </a:xfrm>
          <a:prstGeom prst="roundRect">
            <a:avLst>
              <a:gd name="adj" fmla="val 50000"/>
            </a:avLst>
          </a:prstGeom>
          <a:solidFill>
            <a:srgbClr val="2A2932"/>
          </a:solidFill>
          <a:ln w="12700">
            <a:solidFill>
              <a:srgbClr val="51DF9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02168" y="3154680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1D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957816" y="3154680"/>
            <a:ext cx="1627632" cy="347472"/>
          </a:xfrm>
          <a:prstGeom prst="roundRect">
            <a:avLst>
              <a:gd name="adj" fmla="val 50000"/>
            </a:avLst>
          </a:prstGeom>
          <a:solidFill>
            <a:srgbClr val="2A2932"/>
          </a:solidFill>
          <a:ln w="12700">
            <a:solidFill>
              <a:srgbClr val="51DF9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957816" y="3154680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1D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Drive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46520" y="3657600"/>
            <a:ext cx="1627632" cy="347472"/>
          </a:xfrm>
          <a:prstGeom prst="roundRect">
            <a:avLst>
              <a:gd name="adj" fmla="val 50000"/>
            </a:avLst>
          </a:prstGeom>
          <a:solidFill>
            <a:srgbClr val="2A2932"/>
          </a:solidFill>
          <a:ln w="12700">
            <a:solidFill>
              <a:srgbClr val="51DF9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46520" y="3657600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1D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202168" y="3657600"/>
            <a:ext cx="1627632" cy="347472"/>
          </a:xfrm>
          <a:prstGeom prst="roundRect">
            <a:avLst>
              <a:gd name="adj" fmla="val 50000"/>
            </a:avLst>
          </a:prstGeom>
          <a:solidFill>
            <a:srgbClr val="2A2932"/>
          </a:solidFill>
          <a:ln w="12700">
            <a:solidFill>
              <a:srgbClr val="51DF9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02168" y="3657600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1D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957816" y="3657600"/>
            <a:ext cx="1627632" cy="347472"/>
          </a:xfrm>
          <a:prstGeom prst="roundRect">
            <a:avLst>
              <a:gd name="adj" fmla="val 50000"/>
            </a:avLst>
          </a:prstGeom>
          <a:solidFill>
            <a:srgbClr val="2A2932"/>
          </a:solidFill>
          <a:ln w="12700">
            <a:solidFill>
              <a:srgbClr val="F7A9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957816" y="3657600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Confluence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46520" y="4160520"/>
            <a:ext cx="1627632" cy="347472"/>
          </a:xfrm>
          <a:prstGeom prst="roundRect">
            <a:avLst>
              <a:gd name="adj" fmla="val 50000"/>
            </a:avLst>
          </a:prstGeom>
          <a:solidFill>
            <a:srgbClr val="2A2932"/>
          </a:solidFill>
          <a:ln w="12700">
            <a:solidFill>
              <a:srgbClr val="F7A9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46520" y="4160520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202168" y="4160520"/>
            <a:ext cx="1627632" cy="347472"/>
          </a:xfrm>
          <a:prstGeom prst="roundRect">
            <a:avLst>
              <a:gd name="adj" fmla="val 50000"/>
            </a:avLst>
          </a:prstGeom>
          <a:solidFill>
            <a:srgbClr val="2A2932"/>
          </a:solidFill>
          <a:ln w="12700">
            <a:solidFill>
              <a:srgbClr val="C7B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02168" y="4160520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7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9957816" y="4160520"/>
            <a:ext cx="1627632" cy="347472"/>
          </a:xfrm>
          <a:prstGeom prst="roundRect">
            <a:avLst>
              <a:gd name="adj" fmla="val 50000"/>
            </a:avLst>
          </a:prstGeom>
          <a:solidFill>
            <a:srgbClr val="2A2932"/>
          </a:solidFill>
          <a:ln w="12700">
            <a:solidFill>
              <a:srgbClr val="C7B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957816" y="4160520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7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2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40080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2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DECISIONGRAPH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12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7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ZERO-FILE KNOWLEDGE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5E0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documents? Build the graph from the web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474720" cy="2468880"/>
          </a:xfrm>
          <a:prstGeom prst="roundRect">
            <a:avLst>
              <a:gd name="adj" fmla="val 3333"/>
            </a:avLst>
          </a:prstGeom>
          <a:solidFill>
            <a:srgbClr val="201F27"/>
          </a:solidFill>
          <a:ln w="12700">
            <a:solidFill>
              <a:srgbClr val="474554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148840"/>
            <a:ext cx="603504" cy="603504"/>
          </a:xfrm>
          <a:prstGeom prst="ellipse">
            <a:avLst/>
          </a:prstGeom>
          <a:solidFill>
            <a:srgbClr val="2A2932"/>
          </a:solidFill>
          <a:ln w="12700">
            <a:solidFill>
              <a:srgbClr val="F7A9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2359152"/>
            <a:ext cx="164592" cy="164592"/>
          </a:xfrm>
          <a:prstGeom prst="ellipse">
            <a:avLst/>
          </a:prstGeom>
          <a:solidFill>
            <a:srgbClr val="F7A94A"/>
          </a:solidFill>
          <a:ln/>
        </p:spPr>
      </p:sp>
      <p:sp>
        <p:nvSpPr>
          <p:cNvPr id="7" name="Text 5"/>
          <p:cNvSpPr/>
          <p:nvPr/>
        </p:nvSpPr>
        <p:spPr>
          <a:xfrm>
            <a:off x="932688" y="28803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5E0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URL Scrape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32688" y="329184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9C4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article/docs page → readable text → graph. JS-heavy SPAs flagged honestly.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874520"/>
            <a:ext cx="3474720" cy="2468880"/>
          </a:xfrm>
          <a:prstGeom prst="roundRect">
            <a:avLst>
              <a:gd name="adj" fmla="val 3333"/>
            </a:avLst>
          </a:prstGeom>
          <a:solidFill>
            <a:srgbClr val="201F27"/>
          </a:solidFill>
          <a:ln w="12700">
            <a:solidFill>
              <a:srgbClr val="474554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36008" y="2148840"/>
            <a:ext cx="603504" cy="603504"/>
          </a:xfrm>
          <a:prstGeom prst="ellipse">
            <a:avLst/>
          </a:prstGeom>
          <a:solidFill>
            <a:srgbClr val="2A2932"/>
          </a:solidFill>
          <a:ln w="12700">
            <a:solidFill>
              <a:srgbClr val="F7A9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2359152"/>
            <a:ext cx="164592" cy="164592"/>
          </a:xfrm>
          <a:prstGeom prst="ellipse">
            <a:avLst/>
          </a:prstGeom>
          <a:solidFill>
            <a:srgbClr val="F7A94A"/>
          </a:solidFill>
          <a:ln/>
        </p:spPr>
      </p:sp>
      <p:sp>
        <p:nvSpPr>
          <p:cNvPr id="12" name="Text 10"/>
          <p:cNvSpPr/>
          <p:nvPr/>
        </p:nvSpPr>
        <p:spPr>
          <a:xfrm>
            <a:off x="4636008" y="28803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5E0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YouTube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36008" y="329184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9C4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 pulled automatically → graph. No API key needed.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1874520"/>
            <a:ext cx="3474720" cy="2468880"/>
          </a:xfrm>
          <a:prstGeom prst="roundRect">
            <a:avLst>
              <a:gd name="adj" fmla="val 3333"/>
            </a:avLst>
          </a:prstGeom>
          <a:solidFill>
            <a:srgbClr val="201F27"/>
          </a:solidFill>
          <a:ln w="12700">
            <a:solidFill>
              <a:srgbClr val="474554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39328" y="2148840"/>
            <a:ext cx="603504" cy="603504"/>
          </a:xfrm>
          <a:prstGeom prst="ellipse">
            <a:avLst/>
          </a:prstGeom>
          <a:solidFill>
            <a:srgbClr val="2A2932"/>
          </a:solidFill>
          <a:ln w="12700">
            <a:solidFill>
              <a:srgbClr val="F7A9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49640" y="2359152"/>
            <a:ext cx="164592" cy="164592"/>
          </a:xfrm>
          <a:prstGeom prst="ellipse">
            <a:avLst/>
          </a:prstGeom>
          <a:solidFill>
            <a:srgbClr val="F7A94A"/>
          </a:solidFill>
          <a:ln/>
        </p:spPr>
      </p:sp>
      <p:sp>
        <p:nvSpPr>
          <p:cNvPr id="17" name="Text 15"/>
          <p:cNvSpPr/>
          <p:nvPr/>
        </p:nvSpPr>
        <p:spPr>
          <a:xfrm>
            <a:off x="8339328" y="28803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5E0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Audio / Video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39328" y="329184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9C4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Gemini transcription path (off by default — runs on existing LLM only).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572000"/>
            <a:ext cx="10927080" cy="1143000"/>
          </a:xfrm>
          <a:prstGeom prst="roundRect">
            <a:avLst>
              <a:gd name="adj" fmla="val 7200"/>
            </a:avLst>
          </a:prstGeom>
          <a:solidFill>
            <a:srgbClr val="1C1B23"/>
          </a:solidFill>
          <a:ln w="12700">
            <a:solidFill>
              <a:srgbClr val="474554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F7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by design:  </a:t>
            </a:r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C9C4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enqueues instantly, processes in the durable queue, survives restarts — no request timeouts even on huge pages.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2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2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DECISIONGRAPH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12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7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5E0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Tested where it matters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514600" cy="1828800"/>
          </a:xfrm>
          <a:prstGeom prst="roundRect">
            <a:avLst>
              <a:gd name="adj" fmla="val 4500"/>
            </a:avLst>
          </a:prstGeom>
          <a:solidFill>
            <a:srgbClr val="201F27"/>
          </a:solidFill>
          <a:ln w="12700">
            <a:solidFill>
              <a:srgbClr val="474554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14884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7B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110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77240" y="30632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9C4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9C4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7 suites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37560" y="1920240"/>
            <a:ext cx="2514600" cy="1828800"/>
          </a:xfrm>
          <a:prstGeom prst="roundRect">
            <a:avLst>
              <a:gd name="adj" fmla="val 4500"/>
            </a:avLst>
          </a:prstGeom>
          <a:solidFill>
            <a:srgbClr val="201F27"/>
          </a:solidFill>
          <a:ln w="12700">
            <a:solidFill>
              <a:srgbClr val="474554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37560" y="214884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4DDA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3474720" y="30632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9C4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tests —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9C4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cross-tenant leaks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35040" y="1920240"/>
            <a:ext cx="2514600" cy="1828800"/>
          </a:xfrm>
          <a:prstGeom prst="roundRect">
            <a:avLst>
              <a:gd name="adj" fmla="val 4500"/>
            </a:avLst>
          </a:prstGeom>
          <a:solidFill>
            <a:srgbClr val="201F27"/>
          </a:solidFill>
          <a:ln w="12700">
            <a:solidFill>
              <a:srgbClr val="474554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0" y="214884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51DF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6172200" y="30632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9C4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regressions from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9C4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feature work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732520" y="1920240"/>
            <a:ext cx="2514600" cy="1828800"/>
          </a:xfrm>
          <a:prstGeom prst="roundRect">
            <a:avLst>
              <a:gd name="adj" fmla="val 4500"/>
            </a:avLst>
          </a:prstGeom>
          <a:solidFill>
            <a:srgbClr val="201F27"/>
          </a:solidFill>
          <a:ln w="12700">
            <a:solidFill>
              <a:srgbClr val="474554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732520" y="214884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7A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8869680" y="30632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9C4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abuse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9C4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977640"/>
            <a:ext cx="10927080" cy="1691640"/>
          </a:xfrm>
          <a:prstGeom prst="roundRect">
            <a:avLst>
              <a:gd name="adj" fmla="val 4865"/>
            </a:avLst>
          </a:prstGeom>
          <a:solidFill>
            <a:srgbClr val="1C1B23"/>
          </a:solidFill>
          <a:ln w="12700">
            <a:solidFill>
              <a:srgbClr val="474554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4160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E0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Engineering discipline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452628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C7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scoping</a:t>
            </a:r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C9C4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(flagged what won't work, didn't fake it)  ·  </a:t>
            </a:r>
            <a:pPr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4DD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bug caught by tests</a:t>
            </a:r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C9C4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(global-pickle isolation breach)  ·  </a:t>
            </a:r>
            <a:pPr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51D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fixed</a:t>
            </a:r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C9C4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(middleware lock wedge → async queue).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2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2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DECISIONGRAPH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312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7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5E0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it's built 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03520" cy="1143000"/>
          </a:xfrm>
          <a:prstGeom prst="roundRect">
            <a:avLst>
              <a:gd name="adj" fmla="val 7200"/>
            </a:avLst>
          </a:prstGeom>
          <a:solidFill>
            <a:srgbClr val="201F27"/>
          </a:solidFill>
          <a:ln w="12700">
            <a:solidFill>
              <a:srgbClr val="474554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83080"/>
            <a:ext cx="82296" cy="1143000"/>
          </a:xfrm>
          <a:prstGeom prst="rect">
            <a:avLst/>
          </a:prstGeom>
          <a:solidFill>
            <a:srgbClr val="C7BFF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47672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E0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313432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9C4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uvicorn · contextvars · SQLite job queue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1783080"/>
            <a:ext cx="5303520" cy="1143000"/>
          </a:xfrm>
          <a:prstGeom prst="roundRect">
            <a:avLst>
              <a:gd name="adj" fmla="val 7200"/>
            </a:avLst>
          </a:prstGeom>
          <a:solidFill>
            <a:srgbClr val="201F27"/>
          </a:solidFill>
          <a:ln w="12700">
            <a:solidFill>
              <a:srgbClr val="474554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72200" y="1783080"/>
            <a:ext cx="82296" cy="1143000"/>
          </a:xfrm>
          <a:prstGeom prst="rect">
            <a:avLst/>
          </a:prstGeom>
          <a:solidFill>
            <a:srgbClr val="4DDADA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1947672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E0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Graph / RAG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46520" y="2313432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9C4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NetworkX · python-louvain · sentence-transformers (shared)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108960"/>
            <a:ext cx="5303520" cy="1143000"/>
          </a:xfrm>
          <a:prstGeom prst="roundRect">
            <a:avLst>
              <a:gd name="adj" fmla="val 7200"/>
            </a:avLst>
          </a:prstGeom>
          <a:solidFill>
            <a:srgbClr val="201F27"/>
          </a:solidFill>
          <a:ln w="12700">
            <a:solidFill>
              <a:srgbClr val="474554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3108960"/>
            <a:ext cx="82296" cy="1143000"/>
          </a:xfrm>
          <a:prstGeom prst="rect">
            <a:avLst/>
          </a:prstGeom>
          <a:solidFill>
            <a:srgbClr val="51DF9C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273552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E0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3639312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9C4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gemini-3-flash via local gateway · Ollama qwen2.5 for sim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72200" y="3108960"/>
            <a:ext cx="5303520" cy="1143000"/>
          </a:xfrm>
          <a:prstGeom prst="roundRect">
            <a:avLst>
              <a:gd name="adj" fmla="val 7200"/>
            </a:avLst>
          </a:prstGeom>
          <a:solidFill>
            <a:srgbClr val="201F27"/>
          </a:solidFill>
          <a:ln w="12700">
            <a:solidFill>
              <a:srgbClr val="474554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3108960"/>
            <a:ext cx="82296" cy="1143000"/>
          </a:xfrm>
          <a:prstGeom prst="rect">
            <a:avLst/>
          </a:prstGeom>
          <a:solidFill>
            <a:srgbClr val="F7A94A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3273552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E0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46520" y="3639312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9C4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Single-file SPA · Tailwind (Stitch design system) · vis-network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434840"/>
            <a:ext cx="5303520" cy="1143000"/>
          </a:xfrm>
          <a:prstGeom prst="roundRect">
            <a:avLst>
              <a:gd name="adj" fmla="val 7200"/>
            </a:avLst>
          </a:prstGeom>
          <a:solidFill>
            <a:srgbClr val="201F27"/>
          </a:solidFill>
          <a:ln w="12700">
            <a:solidFill>
              <a:srgbClr val="474554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4434840"/>
            <a:ext cx="82296" cy="1143000"/>
          </a:xfrm>
          <a:prstGeom prst="rect">
            <a:avLst/>
          </a:prstGeom>
          <a:solidFill>
            <a:srgbClr val="8E7FFF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599432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E0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Simulation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14400" y="4965192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9C4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MiroFish-architecture engine (Lite, local) · OASIS-style personas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72200" y="4434840"/>
            <a:ext cx="5303520" cy="1143000"/>
          </a:xfrm>
          <a:prstGeom prst="roundRect">
            <a:avLst>
              <a:gd name="adj" fmla="val 7200"/>
            </a:avLst>
          </a:prstGeom>
          <a:solidFill>
            <a:srgbClr val="201F27"/>
          </a:solidFill>
          <a:ln w="12700">
            <a:solidFill>
              <a:srgbClr val="474554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72200" y="4434840"/>
            <a:ext cx="82296" cy="1143000"/>
          </a:xfrm>
          <a:prstGeom prst="rect">
            <a:avLst/>
          </a:prstGeom>
          <a:solidFill>
            <a:srgbClr val="FFB4AB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4599432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E0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Delivery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446520" y="4965192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9C4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ngrok reserved domain · per-workspace isolation · MCP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2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2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DECISIONGRAPH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312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3474720"/>
            <a:ext cx="6400800" cy="6400800"/>
          </a:xfrm>
          <a:prstGeom prst="ellipse">
            <a:avLst/>
          </a:prstGeom>
          <a:solidFill>
            <a:srgbClr val="8E7FFF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2194560"/>
            <a:ext cx="5486400" cy="5486400"/>
          </a:xfrm>
          <a:prstGeom prst="ellipse">
            <a:avLst/>
          </a:prstGeom>
          <a:solidFill>
            <a:srgbClr val="4DDADA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C7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3504" y="1874520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E5E0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Memory that compounds beats intelligence that forgets.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886200"/>
            <a:ext cx="8595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C9C4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DecisionGraph turns scattered files, web pages, conversations, and outcomes into one living institutional brain — isolated per user, queryable by agents, and stress-tested by simulation. Built honestly, tested where it counts, shipped on a stable link.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5989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2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DecisionGraph — Institutional Memory OS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DecisionGraph — Institutional Memory OS</dc:title>
  <dc:subject>PptxGenJS Presentation</dc:subject>
  <dc:creator>DecisionGraph</dc:creator>
  <cp:lastModifiedBy>DecisionGraph</cp:lastModifiedBy>
  <cp:revision>1</cp:revision>
  <dcterms:created xsi:type="dcterms:W3CDTF">2026-05-17T07:21:35Z</dcterms:created>
  <dcterms:modified xsi:type="dcterms:W3CDTF">2026-05-17T07:21:35Z</dcterms:modified>
</cp:coreProperties>
</file>